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4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9"/>
    <p:restoredTop sz="94694"/>
  </p:normalViewPr>
  <p:slideViewPr>
    <p:cSldViewPr snapToGrid="0">
      <p:cViewPr>
        <p:scale>
          <a:sx n="130" d="100"/>
          <a:sy n="130" d="100"/>
        </p:scale>
        <p:origin x="144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14D0-871B-CF95-4302-07CDFC76C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E0CD0-1824-ABFA-1757-9C85B79AA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154F1-504E-1B93-33ED-75754D13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16695-7B80-4266-7867-6F81A1F0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F22D0-1A12-FDF5-3BE0-5CC86E41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60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20B3-76BA-679A-7585-AF91517C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25F5-3BFC-AA4E-997F-3B4CB7CCE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14BAB-8F3A-9DF1-E0E6-B1B82281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92C49-E094-D591-B416-73DD536E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B4DC1-C944-24F0-7CC7-9548C73D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1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5C34-A6F4-16B2-579A-98DF39DF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5577B-8DDF-9117-9558-608FB2392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459AB-B4A8-850C-E31D-E928754C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5563-F84B-DEDF-7CD0-264E8296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96F1-2E0F-9482-F353-11A603F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9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AC0E-87F4-81E0-E954-2CAC5413C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01FDB-E1B8-7C15-92AF-AF5DECFDE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8B921-07C5-F3D0-D594-5675F078C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10EC5-DB3E-DAD2-1D86-22F32527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9E263-CF17-5473-7838-0EFA8A31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9731F-578E-8BC9-C8AA-0FA16EDE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78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9A98-5EA7-BBB6-A1CD-F53A8EDB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D41B8-BE8F-ED5B-DD5E-A4883100B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AC04A-47E7-51EA-43BA-E4DA85F59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5FAB9-9B43-F280-6932-8F433516B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49D80-F74B-78B3-E7A3-62C9A2FEC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610A1-3579-7CB6-DED5-2D4020C1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A5F68-4B34-5368-8218-DC0E3732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7DA000-12CB-7D66-E79A-56332044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5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B771-5BE2-DA6A-1E51-6C75C95C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572D4-7C6A-8A4D-2B04-0A8D37691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D3F2C-10FA-E05B-4611-6F34BEB5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89F2E-7BB4-90CB-1634-7B406ACB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96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24B15-9745-188C-BCF6-BC2D7BB2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A114E-4C83-7708-CD2F-29FD4C43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EED13-91C1-15BC-2E49-DB1356DB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69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79B9-8151-2343-EAF5-B30D83320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C3107-CAA0-3FA4-71E8-E6A8227D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3CFBD-CE58-D74E-5117-F92FD1ABB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A23F8-BD3C-4270-146C-F7DF9DF9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81DB2-3545-BBC3-C760-CB53991F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8129E-1D08-21C4-B9A9-4D60AEEC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91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3F4C-6C31-4F37-976E-7F626422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7853D-F7A6-B5C0-102C-267F9A9AC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9F7DF-6A85-8348-3BD4-315511383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C2777-E1C9-E8AE-66E5-45AF66B7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C07EA-BCF2-80EA-B468-96DE6916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143A-0BF8-686F-9811-E1509C4B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04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526F-FEA9-8322-DC1C-13CB8CAF0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525A2-DB1B-A3AE-A010-BA4D52D5F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88434-F9C7-9932-5796-FBDD258C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47D28-CFFE-42AF-2A24-159982C5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52F0-2733-5214-A44C-6E327753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87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DC8D8-1248-5B41-7DE7-C98B41D2B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53ACD-E0FF-8848-3D94-30B10954E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6B4D-4C54-C432-1973-DEB26984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0D097-4F97-7810-566D-8B66A872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E171C-B730-E11B-B19A-CC6B02FD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3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78853-E1C9-06DD-4A09-FAED69503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40165-3E2B-3D75-56C3-09F6FD0F8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237BD-BDE1-F84F-6C22-3713B4816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79CEC-7610-D448-83C5-DFBCE490DFAF}" type="datetimeFigureOut">
              <a:rPr lang="en-GB" smtClean="0"/>
              <a:t>27/03/2025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920D0-CA2F-8623-CC8B-D766B94D1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AE94E-B871-CF7C-B660-A429532EB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4AB00-AD5B-AB4D-B2FA-CC30F3B5E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25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9762-2AB3-8253-1084-F6C49A6DC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SUMO Simulation (</a:t>
            </a:r>
            <a:r>
              <a:rPr lang="en-GB" dirty="0" err="1"/>
              <a:t>SimpleT</a:t>
            </a:r>
            <a:r>
              <a:rPr lang="en-GB" dirty="0"/>
              <a:t> Sensitivity Analysis)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41721-231E-D0A2-D898-F5B70AFDD6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Byron Mason</a:t>
            </a:r>
          </a:p>
        </p:txBody>
      </p:sp>
    </p:spTree>
    <p:extLst>
      <p:ext uri="{BB962C8B-B14F-4D97-AF65-F5344CB8AC3E}">
        <p14:creationId xmlns:p14="http://schemas.microsoft.com/office/powerpoint/2010/main" val="343548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53A3E-A7FF-E0ED-DE5A-34A68C70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5D76B-1C9E-C1C8-746E-10911652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analysis shown in this presentation is based on model that hasn’t been validated in any way.</a:t>
            </a:r>
          </a:p>
          <a:p>
            <a:r>
              <a:rPr lang="en-GB" dirty="0"/>
              <a:t>Its purpose is to prototype an approach to analysis that can be used, in time, on a validated model.</a:t>
            </a:r>
          </a:p>
        </p:txBody>
      </p:sp>
    </p:spTree>
    <p:extLst>
      <p:ext uri="{BB962C8B-B14F-4D97-AF65-F5344CB8AC3E}">
        <p14:creationId xmlns:p14="http://schemas.microsoft.com/office/powerpoint/2010/main" val="199507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6E7E-FE87-A034-021A-576B2ACB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Sobol sensitivity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472B9-1047-C5AA-ACCC-0671797A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Quantifies how much each input variable contributes to the variance in the output both on its own and through interactions with other variables.</a:t>
            </a:r>
          </a:p>
          <a:p>
            <a:r>
              <a:rPr lang="en-GB" dirty="0"/>
              <a:t>Helps in deciding which ‘inputs’ are important in determining an output, in this case, total vehicle emissions.</a:t>
            </a:r>
          </a:p>
          <a:p>
            <a:r>
              <a:rPr lang="en-GB" dirty="0"/>
              <a:t>Separates effects into first-order (individual) and higher-order (interaction) contributions.</a:t>
            </a:r>
          </a:p>
          <a:p>
            <a:r>
              <a:rPr lang="en-GB" dirty="0"/>
              <a:t>Provides total-order indices, showing the full influence of each input including all interactions, which helps identify dominant drivers of system behaviour.</a:t>
            </a:r>
          </a:p>
          <a:p>
            <a:r>
              <a:rPr lang="en-GB" dirty="0"/>
              <a:t>Works globally across the entire input space, not just around a single operating point, making it ideal for nonlinear and complex models.</a:t>
            </a:r>
          </a:p>
          <a:p>
            <a:r>
              <a:rPr lang="en-GB" dirty="0"/>
              <a:t>Uses a variance-based approach, meaning it directly measures how uncertainty in the inputs translates to uncertainty in the outputs.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2674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E5F1-766D-168E-1533-D92228C2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676F8-8DB0-5873-E9CF-D64ACE16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Simple T junction</a:t>
            </a:r>
          </a:p>
          <a:p>
            <a:r>
              <a:rPr lang="en-GB" dirty="0"/>
              <a:t>Four vehicle types</a:t>
            </a:r>
          </a:p>
          <a:p>
            <a:pPr lvl="1"/>
            <a:r>
              <a:rPr lang="en-GB" dirty="0" err="1"/>
              <a:t>pkw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bus </a:t>
            </a:r>
          </a:p>
          <a:p>
            <a:pPr lvl="1"/>
            <a:r>
              <a:rPr lang="en-GB" dirty="0"/>
              <a:t>bike </a:t>
            </a:r>
          </a:p>
          <a:p>
            <a:pPr lvl="1"/>
            <a:r>
              <a:rPr lang="en-GB" dirty="0"/>
              <a:t>scooter </a:t>
            </a:r>
          </a:p>
          <a:p>
            <a:r>
              <a:rPr lang="en-GB" dirty="0"/>
              <a:t>Traffic flows</a:t>
            </a:r>
          </a:p>
          <a:p>
            <a:pPr lvl="1"/>
            <a:r>
              <a:rPr lang="en-GB" dirty="0"/>
              <a:t>L15 to L13 and L18</a:t>
            </a:r>
          </a:p>
          <a:p>
            <a:pPr lvl="1"/>
            <a:r>
              <a:rPr lang="en-GB" dirty="0"/>
              <a:t>L14 to L16 and L18</a:t>
            </a:r>
          </a:p>
          <a:p>
            <a:pPr lvl="1"/>
            <a:r>
              <a:rPr lang="en-GB" dirty="0"/>
              <a:t>L17 to L13 and L16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A7CF2-CDCF-69ED-E847-43C5983E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145" y="1825625"/>
            <a:ext cx="5529455" cy="3511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E3B42D-FEFB-CD68-D8B6-55E7C337DAAF}"/>
              </a:ext>
            </a:extLst>
          </p:cNvPr>
          <p:cNvSpPr txBox="1"/>
          <p:nvPr/>
        </p:nvSpPr>
        <p:spPr>
          <a:xfrm>
            <a:off x="8033657" y="145629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7272C-0F58-9B2E-823F-F427DFBB36B7}"/>
              </a:ext>
            </a:extLst>
          </p:cNvPr>
          <p:cNvSpPr txBox="1"/>
          <p:nvPr/>
        </p:nvSpPr>
        <p:spPr>
          <a:xfrm>
            <a:off x="5211598" y="324433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BCFCA0-69D2-95F1-89B9-1686B2DCBA51}"/>
              </a:ext>
            </a:extLst>
          </p:cNvPr>
          <p:cNvSpPr txBox="1"/>
          <p:nvPr/>
        </p:nvSpPr>
        <p:spPr>
          <a:xfrm>
            <a:off x="11560402" y="413696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ECC7E-87A8-24DB-A851-8320BFF86BE9}"/>
              </a:ext>
            </a:extLst>
          </p:cNvPr>
          <p:cNvSpPr txBox="1"/>
          <p:nvPr/>
        </p:nvSpPr>
        <p:spPr>
          <a:xfrm>
            <a:off x="5178941" y="413696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2C37A-704D-A1A9-7C32-49D85199066A}"/>
              </a:ext>
            </a:extLst>
          </p:cNvPr>
          <p:cNvSpPr txBox="1"/>
          <p:nvPr/>
        </p:nvSpPr>
        <p:spPr>
          <a:xfrm>
            <a:off x="8923626" y="1445799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4A0782-7FA2-2F9E-93D7-7DB313384C5D}"/>
              </a:ext>
            </a:extLst>
          </p:cNvPr>
          <p:cNvSpPr txBox="1"/>
          <p:nvPr/>
        </p:nvSpPr>
        <p:spPr>
          <a:xfrm>
            <a:off x="11560402" y="3244334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L17</a:t>
            </a:r>
          </a:p>
        </p:txBody>
      </p:sp>
    </p:spTree>
    <p:extLst>
      <p:ext uri="{BB962C8B-B14F-4D97-AF65-F5344CB8AC3E}">
        <p14:creationId xmlns:p14="http://schemas.microsoft.com/office/powerpoint/2010/main" val="107565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E244-FEEE-78CC-6180-1288F712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A4DF9-853E-4CD0-056A-538D9B74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Total number of vehicles is 1000 </a:t>
            </a:r>
          </a:p>
          <a:p>
            <a:r>
              <a:rPr lang="en-GB" dirty="0"/>
              <a:t>Simulation time is 60 minutes</a:t>
            </a:r>
          </a:p>
          <a:p>
            <a:r>
              <a:rPr lang="en-GB" dirty="0"/>
              <a:t>Trips (</a:t>
            </a:r>
            <a:r>
              <a:rPr lang="en-GB" i="1" dirty="0" err="1"/>
              <a:t>simpleT.rou.xml</a:t>
            </a:r>
            <a:r>
              <a:rPr lang="en-GB" dirty="0"/>
              <a:t>) are generated using a defined vehicle distribution which changes in each simulation.</a:t>
            </a:r>
          </a:p>
          <a:p>
            <a:r>
              <a:rPr lang="en-GB" dirty="0"/>
              <a:t>The route file (</a:t>
            </a:r>
            <a:r>
              <a:rPr lang="en-GB" i="1" dirty="0" err="1"/>
              <a:t>simpleT.rou.xml</a:t>
            </a:r>
            <a:r>
              <a:rPr lang="en-GB" dirty="0"/>
              <a:t>) is generated using </a:t>
            </a:r>
            <a:r>
              <a:rPr lang="en-GB" i="1" dirty="0" err="1"/>
              <a:t>random_route.py</a:t>
            </a:r>
            <a:endParaRPr lang="en-GB" i="1" dirty="0"/>
          </a:p>
          <a:p>
            <a:r>
              <a:rPr lang="en-GB" dirty="0"/>
              <a:t>A trip is assigned to a vehicle that is sampled from the defined vehicle distribution. As a consequence the trips that particular vehicles take between simulations will be different.</a:t>
            </a:r>
          </a:p>
          <a:p>
            <a:r>
              <a:rPr lang="en-GB" dirty="0"/>
              <a:t>The start time of the vehicle is randomly sampled. Vehicle departures over the period of the simulation are approximately uniform (see plot on next page).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45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8531-39BD-9B05-860A-FF6A7B43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Setup – an example of vehicle start times</a:t>
            </a: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24BE0B0-E21C-0F1B-3A55-94248335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3099"/>
            <a:ext cx="10644188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5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C758-B6C6-A41E-5BE5-AC427668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CD7A2-B816-6C49-BD3E-7748C73DF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Sobol sensitivity analysis is undertaken to determine the contribution of each vehicle class [</a:t>
            </a:r>
            <a:r>
              <a:rPr lang="en-GB" dirty="0" err="1"/>
              <a:t>pkw</a:t>
            </a:r>
            <a:r>
              <a:rPr lang="en-GB" dirty="0"/>
              <a:t>, bus, bike, scooter] on total variance in PM2.5 </a:t>
            </a:r>
            <a:r>
              <a:rPr lang="en-GB" u="sng" dirty="0"/>
              <a:t>only</a:t>
            </a:r>
            <a:endParaRPr lang="en-GB" dirty="0"/>
          </a:p>
          <a:p>
            <a:r>
              <a:rPr lang="en-GB" dirty="0"/>
              <a:t>Second order effects (interactions) are also evaluated.</a:t>
            </a:r>
          </a:p>
          <a:p>
            <a:r>
              <a:rPr lang="en-GB" dirty="0"/>
              <a:t>Sobol design was generated using </a:t>
            </a:r>
            <a:r>
              <a:rPr lang="en-GB" i="1" dirty="0" err="1"/>
              <a:t>experimental_design.py</a:t>
            </a:r>
            <a:endParaRPr lang="en-GB" dirty="0"/>
          </a:p>
          <a:p>
            <a:r>
              <a:rPr lang="en-GB" dirty="0"/>
              <a:t>Sobol design was created with N * (2D+2) samples using quasi-random </a:t>
            </a:r>
            <a:r>
              <a:rPr lang="en-GB" dirty="0" err="1"/>
              <a:t>saltelli</a:t>
            </a:r>
            <a:r>
              <a:rPr lang="en-GB" dirty="0"/>
              <a:t> sampling</a:t>
            </a:r>
          </a:p>
          <a:p>
            <a:pPr lvl="1"/>
            <a:r>
              <a:rPr lang="en-GB" dirty="0"/>
              <a:t>N = 512 (base sample size set for moderate accuracy)</a:t>
            </a:r>
          </a:p>
          <a:p>
            <a:pPr lvl="1"/>
            <a:r>
              <a:rPr lang="en-GB" dirty="0"/>
              <a:t>D = 4 (number of inputs i.e. vehicle types)</a:t>
            </a:r>
          </a:p>
          <a:p>
            <a:pPr lvl="1"/>
            <a:r>
              <a:rPr lang="en-GB" dirty="0"/>
              <a:t>Samples = 512 * (2*4+2) = 5120 (total simulations required)</a:t>
            </a:r>
          </a:p>
        </p:txBody>
      </p:sp>
    </p:spTree>
    <p:extLst>
      <p:ext uri="{BB962C8B-B14F-4D97-AF65-F5344CB8AC3E}">
        <p14:creationId xmlns:p14="http://schemas.microsoft.com/office/powerpoint/2010/main" val="23332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CF10B-F140-81DA-0492-D838BC60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7040-86F1-1051-3831-FA3B25BC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5120 simulations are run using vehicle distributions from </a:t>
            </a:r>
            <a:r>
              <a:rPr lang="en-GB" dirty="0" err="1"/>
              <a:t>sobol</a:t>
            </a:r>
            <a:r>
              <a:rPr lang="en-GB" dirty="0"/>
              <a:t> design taking around 7 hrs</a:t>
            </a:r>
          </a:p>
          <a:p>
            <a:r>
              <a:rPr lang="en-GB" dirty="0"/>
              <a:t>Total PM2.5 emissions are added, for each simulation separately, after all simulations have completed using functions defined in </a:t>
            </a:r>
            <a:r>
              <a:rPr lang="en-GB" i="1" dirty="0" err="1"/>
              <a:t>sumo_interface.py</a:t>
            </a:r>
            <a:endParaRPr lang="en-GB" i="1" dirty="0"/>
          </a:p>
          <a:p>
            <a:r>
              <a:rPr lang="en-GB" dirty="0"/>
              <a:t>Results analysis and plotting is undertaken using script </a:t>
            </a:r>
            <a:r>
              <a:rPr lang="en-GB" i="1" dirty="0" err="1"/>
              <a:t>sensitivity_study_analysis.py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36249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FA95-02DE-6200-3B73-56EEDB41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B517-A9B2-5298-02BF-AF8E77C89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First order terms (main effects)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Results show </a:t>
            </a:r>
          </a:p>
          <a:p>
            <a:pPr lvl="1"/>
            <a:r>
              <a:rPr lang="en-GB" dirty="0"/>
              <a:t>‘bus’ influences PM2.5 variance the most</a:t>
            </a:r>
          </a:p>
          <a:p>
            <a:pPr lvl="1"/>
            <a:r>
              <a:rPr lang="en-GB" dirty="0"/>
              <a:t>There is some interaction but most of its influence is first order</a:t>
            </a:r>
          </a:p>
          <a:p>
            <a:pPr lvl="1"/>
            <a:r>
              <a:rPr lang="en-GB" dirty="0"/>
              <a:t>‘bike’ influences PM2.5 second variance the most (note that this influence is –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In total 94.7% variance is ‘explained’ by first order terms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EEF81-2613-32DF-480A-A13D8267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2278657"/>
            <a:ext cx="7772400" cy="19074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B41CFF-0737-D48A-34D9-7391BA6C2A96}"/>
              </a:ext>
            </a:extLst>
          </p:cNvPr>
          <p:cNvCxnSpPr>
            <a:cxnSpLocks/>
          </p:cNvCxnSpPr>
          <p:nvPr/>
        </p:nvCxnSpPr>
        <p:spPr>
          <a:xfrm flipH="1">
            <a:off x="4414684" y="2064774"/>
            <a:ext cx="2172929" cy="460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8C2B7A-22EB-D4DE-DF77-8EA28C9C9489}"/>
              </a:ext>
            </a:extLst>
          </p:cNvPr>
          <p:cNvSpPr txBox="1"/>
          <p:nvPr/>
        </p:nvSpPr>
        <p:spPr>
          <a:xfrm>
            <a:off x="6587613" y="1262870"/>
            <a:ext cx="2457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main effect contribution to variance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A3876-8663-FBFB-2674-E4E8E0E14BA0}"/>
              </a:ext>
            </a:extLst>
          </p:cNvPr>
          <p:cNvSpPr txBox="1"/>
          <p:nvPr/>
        </p:nvSpPr>
        <p:spPr>
          <a:xfrm>
            <a:off x="8557751" y="1743635"/>
            <a:ext cx="253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total variance including higher order effects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8D45A6-54E7-D7AB-B001-7EE061DC7D9E}"/>
              </a:ext>
            </a:extLst>
          </p:cNvPr>
          <p:cNvCxnSpPr>
            <a:cxnSpLocks/>
          </p:cNvCxnSpPr>
          <p:nvPr/>
        </p:nvCxnSpPr>
        <p:spPr>
          <a:xfrm flipH="1">
            <a:off x="7226710" y="2127612"/>
            <a:ext cx="1331041" cy="397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E8EF0D-E775-F744-FE2E-5F0B3FAD084B}"/>
              </a:ext>
            </a:extLst>
          </p:cNvPr>
          <p:cNvSpPr txBox="1"/>
          <p:nvPr/>
        </p:nvSpPr>
        <p:spPr>
          <a:xfrm>
            <a:off x="10296220" y="2524903"/>
            <a:ext cx="1579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confidence interval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1F87E1-018F-247C-2469-04848D24E6D2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9173497" y="2605548"/>
            <a:ext cx="1122723" cy="242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028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9E6C-7FC5-8B0A-05D0-D75DABCA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9498-694A-70FE-1850-D0FEA0B8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1"/>
            <a:ext cx="10515600" cy="491971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Second order terms (interaction effects)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Second order terms contribute significantly less to variance and confidence levels suggest that it may be possible to ignore them (further evaluation is required).</a:t>
            </a:r>
          </a:p>
          <a:p>
            <a:r>
              <a:rPr lang="en-GB" dirty="0"/>
              <a:t>Only 1.5% of variance is ‘explained’ by second order interactions</a:t>
            </a:r>
          </a:p>
          <a:p>
            <a:r>
              <a:rPr lang="en-GB" dirty="0"/>
              <a:t>..and 3.7% of variance is ‘explained’ by higher order interactions and the randomness (trip assignment) in 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4F036-58DB-BC36-8EAB-E612C7BB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57" y="2025424"/>
            <a:ext cx="7772400" cy="251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6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FFB8-31D6-E08C-4A50-74D119A3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D0C5-89E2-1BDC-B3D5-E95AD41F1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As can be seen from the summary above ‘main effects’ are of greatest influence to variance.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84E97-9C87-4853-C16A-30B45109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864" y="1515787"/>
            <a:ext cx="5033307" cy="372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2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A365-7342-AB5B-18CD-C8313DB9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B7468-3B7F-ACD4-F89B-84B56AC1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7901"/>
            <a:ext cx="6668729" cy="44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8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C890-716A-E73F-F44C-6E77A34CA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08E6-BBF0-44B4-946D-993D9A7FB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Interesting results, that at first glance contradict (naive) intuition.</a:t>
            </a:r>
          </a:p>
          <a:p>
            <a:pPr lvl="1"/>
            <a:r>
              <a:rPr lang="en-GB" dirty="0"/>
              <a:t>More </a:t>
            </a:r>
            <a:r>
              <a:rPr lang="en-GB" dirty="0" err="1"/>
              <a:t>pkw</a:t>
            </a:r>
            <a:r>
              <a:rPr lang="en-GB" dirty="0"/>
              <a:t>, bike and scooter decreases PM2.5</a:t>
            </a:r>
          </a:p>
          <a:p>
            <a:pPr lvl="1"/>
            <a:r>
              <a:rPr lang="en-GB" dirty="0"/>
              <a:t>More bus increases PM2.5</a:t>
            </a:r>
          </a:p>
          <a:p>
            <a:r>
              <a:rPr lang="en-GB" dirty="0"/>
              <a:t>The above is a limitation of the approach i.e. having fixed vehicle numbers</a:t>
            </a:r>
          </a:p>
          <a:p>
            <a:pPr lvl="1"/>
            <a:r>
              <a:rPr lang="en-GB" dirty="0"/>
              <a:t>Need to think about how to deal with the above</a:t>
            </a:r>
          </a:p>
          <a:p>
            <a:pPr lvl="1"/>
            <a:r>
              <a:rPr lang="en-GB" dirty="0"/>
              <a:t>Suggest a ‘replacement factor’ for different vehicle types i.e. 1 bus = 1/16 </a:t>
            </a:r>
            <a:r>
              <a:rPr lang="en-GB" dirty="0" err="1"/>
              <a:t>pkw</a:t>
            </a:r>
            <a:endParaRPr lang="en-GB" dirty="0"/>
          </a:p>
          <a:p>
            <a:pPr lvl="1"/>
            <a:r>
              <a:rPr lang="en-GB" dirty="0"/>
              <a:t>The above needs to be considered carefully since total vehicle numbers will change (reducing overall) emissions so a direct comparison between absolute emissions results based on different vehicle proportions cannot then be made.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595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E1F8-ED1D-89F4-AB79-95D0C71F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Sobol Sensitivity -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D7A54-B218-B63C-F467-EF43D1EC9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At first glance interaction effects are not significant – this is unexpected since it was thought that more buses would change other vehicle behaviour significantly</a:t>
            </a:r>
          </a:p>
          <a:p>
            <a:pPr lvl="1"/>
            <a:r>
              <a:rPr lang="en-GB" dirty="0"/>
              <a:t>Maybe this will be the case at a more complex junction?</a:t>
            </a:r>
          </a:p>
          <a:p>
            <a:r>
              <a:rPr lang="en-GB" dirty="0"/>
              <a:t>If there are no second order effects then the model required will be less complex and this will ’cost’ only 1.5% accuracy</a:t>
            </a:r>
          </a:p>
          <a:p>
            <a:r>
              <a:rPr lang="en-GB" dirty="0"/>
              <a:t>A study based on fixed vehicle numbers is flawed since buses dominate PM2.5 and a ‘replacement factor’ should be considered</a:t>
            </a:r>
          </a:p>
          <a:p>
            <a:r>
              <a:rPr lang="en-GB" dirty="0"/>
              <a:t>Need to explicitly quantify repeatability and associated variance as a result of randomisation i.e. departure time in the simulation</a:t>
            </a:r>
          </a:p>
          <a:p>
            <a:r>
              <a:rPr lang="en-GB" dirty="0"/>
              <a:t>5120 simulations takes around 7 hours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966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A943-DAA9-1920-C848-EDCC7E04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Sensitivity Study – 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ADC36-4A57-CBBC-FC91-04138BC8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Need to rerun the analysis on a more complex junction that has preferably been validated.</a:t>
            </a:r>
          </a:p>
          <a:p>
            <a:r>
              <a:rPr lang="en-GB" dirty="0"/>
              <a:t>It may be interesting to see if driving behaviour (however this is characterised) influences contributions from second order effects.</a:t>
            </a:r>
          </a:p>
          <a:p>
            <a:r>
              <a:rPr lang="en-GB" dirty="0"/>
              <a:t>Should consider simulation period i.e. 24 hrs may be a better measure based on fluctuations in traffic volumes.</a:t>
            </a:r>
          </a:p>
          <a:p>
            <a:pPr lvl="1"/>
            <a:r>
              <a:rPr lang="en-GB" dirty="0"/>
              <a:t>This does however raise the question of vehicle distribution </a:t>
            </a:r>
            <a:r>
              <a:rPr lang="en-GB"/>
              <a:t>over the period</a:t>
            </a:r>
            <a:endParaRPr lang="en-GB" dirty="0"/>
          </a:p>
          <a:p>
            <a:r>
              <a:rPr lang="en-GB" dirty="0"/>
              <a:t>Need to tidy up code and release on </a:t>
            </a:r>
            <a:r>
              <a:rPr lang="en-GB" dirty="0" err="1"/>
              <a:t>github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636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52b3a1-dbcb-41fb-a452-370cf542753f}" enabled="1" method="Privileged" siteId="{d1323671-cdbe-4417-b4d4-bdb24b51316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991</Words>
  <Application>Microsoft Macintosh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SUMO Simulation (SimpleT Sensitivity Analysis)</vt:lpstr>
      <vt:lpstr>Note</vt:lpstr>
      <vt:lpstr>What is Sobol sensitivity analysis</vt:lpstr>
      <vt:lpstr>Analysis Setup</vt:lpstr>
      <vt:lpstr>Analysis Setup</vt:lpstr>
      <vt:lpstr>Setup – an example of vehicle start times</vt:lpstr>
      <vt:lpstr>Sobol Sensitivity</vt:lpstr>
      <vt:lpstr>Sobol Sensitivity</vt:lpstr>
      <vt:lpstr>Sobol Sensitivity - Results</vt:lpstr>
      <vt:lpstr>Sobol Sensitivity - Results</vt:lpstr>
      <vt:lpstr>Sobol Sensitivity - Results</vt:lpstr>
      <vt:lpstr>Sobol Sensitivity - Results</vt:lpstr>
      <vt:lpstr>Sobol Sensitivity - Results</vt:lpstr>
      <vt:lpstr>Sobol Sensitivity - Conclusion</vt:lpstr>
      <vt:lpstr>Sensitivity Study – Further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Byron Mason</dc:creator>
  <cp:lastModifiedBy>Byron Mason</cp:lastModifiedBy>
  <cp:revision>7</cp:revision>
  <dcterms:created xsi:type="dcterms:W3CDTF">2025-02-25T03:18:53Z</dcterms:created>
  <dcterms:modified xsi:type="dcterms:W3CDTF">2025-03-27T05:10:59Z</dcterms:modified>
</cp:coreProperties>
</file>